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727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208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7292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hyperlink" Target="https://nam02.safelinks.protection.outlook.com/?url=https%3A%2F%2Fwww.google.com%2Fsearch%3Fq%3Dhttps%3A%2F%2Farchive.ics.uci.edu%2Fml%2Fdatasets.php&amp;data=05%7C02%7Comar.salinas%40unab.cl%7Cf6a50a3be9354908f30a08de2c229269%7C8fbed393d03b49f8be79cd5e1f590fb2%7C0%7C0%7C638996724172426086%7CUnknown%7CTWFpbGZsb3d8eyJFbXB0eU1hcGkiOnRydWUsIlYiOiIwLjAuMDAwMCIsIlAiOiJXaW4zMiIsIkFOIjoiTWFpbCIsIldUIjoyfQ%3D%3D%7C0%7C%7C%7C&amp;sdata=d%2B7C0uN4DZMmR1PMvD69ko97ZD5FlsxGHPNt9tZn6JI%3D&amp;reserved=0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hyperlink" Target="https://nam02.safelinks.protection.outlook.com/?url=https%3A%2F%2Fregistry.opendata.aws%2F&amp;data=05%7C02%7Comar.salinas%40unab.cl%7Cf6a50a3be9354908f30a08de2c229269%7C8fbed393d03b49f8be79cd5e1f590fb2%7C0%7C0%7C638996724172466991%7CUnknown%7CTWFpbGZsb3d8eyJFbXB0eU1hcGkiOnRydWUsIlYiOiIwLjAuMDAwMCIsIlAiOiJXaW4zMiIsIkFOIjoiTWFpbCIsIldUIjoyfQ%3D%3D%7C0%7C%7C%7C&amp;sdata=yTfAEGQCJA%2Fj47%2BnFZsJN0EvdFo%2FYz1DuLx%2BFvaVDh4%3D&amp;reserved=0" TargetMode="External"/><Relationship Id="rId5" Type="http://schemas.openxmlformats.org/officeDocument/2006/relationships/hyperlink" Target="https://nam02.safelinks.protection.outlook.com/?url=https%3A%2F%2Fwww.kaggle.com%2Fdatasets&amp;data=05%7C02%7Comar.salinas%40unab.cl%7Cf6a50a3be9354908f30a08de2c229269%7C8fbed393d03b49f8be79cd5e1f590fb2%7C0%7C0%7C638996724172398497%7CUnknown%7CTWFpbGZsb3d8eyJFbXB0eU1hcGkiOnRydWUsIlYiOiIwLjAuMDAwMCIsIlAiOiJXaW4zMiIsIkFOIjoiTWFpbCIsIldUIjoyfQ%3D%3D%7C0%7C%7C%7C&amp;sdata=MZTZx6Vj9yLhMGEg4iGUs0xKOPgOs%2F4ZvHGxjBGhxLM%3D&amp;reserved=0" TargetMode="External"/><Relationship Id="rId10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hyperlink" Target="https://nam02.safelinks.protection.outlook.com/?url=https%3A%2F%2Fdatasetsearch.research.google.com%2F&amp;data=05%7C02%7Comar.salinas%40unab.cl%7Cf6a50a3be9354908f30a08de2c229269%7C8fbed393d03b49f8be79cd5e1f590fb2%7C0%7C0%7C638996724172445726%7CUnknown%7CTWFpbGZsb3d8eyJFbXB0eU1hcGkiOnRydWUsIlYiOiIwLjAuMDAwMCIsIlAiOiJXaW4zMiIsIkFOIjoiTWFpbCIsIldUIjoyfQ%3D%3D%7C0%7C%7C%7C&amp;sdata=HUCcVDqvXeCBd1utUgWDh5R1EykO3ElzD4J6wpqmeoo%3D&amp;reserved=0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hyperlink" Target="https://nam02.safelinks.protection.outlook.com/?url=https%3A%2F%2Fdata.humdata.org%2F&amp;data=05%7C02%7Comar.salinas%40unab.cl%7Cf6a50a3be9354908f30a08de2c229269%7C8fbed393d03b49f8be79cd5e1f590fb2%7C0%7C0%7C638996724172509054%7CUnknown%7CTWFpbGZsb3d8eyJFbXB0eU1hcGkiOnRydWUsIlYiOiIwLjAuMDAwMCIsIlAiOiJXaW4zMiIsIkFOIjoiTWFpbCIsIldUIjoyfQ%3D%3D%7C0%7C%7C%7C&amp;sdata=2LLANUtWAI1Jcm4AoaHBC7sZzsOH9Ujleyhkn13ZzU8%3D&amp;reserved=0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hyperlink" Target="https://nam02.safelinks.protection.outlook.com/?url=https%3A%2F%2Fourworldindata.org%2F&amp;data=05%7C02%7Comar.salinas%40unab.cl%7Cf6a50a3be9354908f30a08de2c229269%7C8fbed393d03b49f8be79cd5e1f590fb2%7C0%7C0%7C638996724172488257%7CUnknown%7CTWFpbGZsb3d8eyJFbXB0eU1hcGkiOnRydWUsIlYiOiIwLjAuMDAwMCIsIlAiOiJXaW4zMiIsIkFOIjoiTWFpbCIsIldUIjoyfQ%3D%3D%7C0%7C%7C%7C&amp;sdata=ucWioT1aHT9LD%2FkLOUtGHDlkuXgzmtFHfj9jRa9XlEk%3D&amp;reserved=0" TargetMode="External"/><Relationship Id="rId4" Type="http://schemas.openxmlformats.org/officeDocument/2006/relationships/image" Target="../media/image8.png"/><Relationship Id="rId9" Type="http://schemas.openxmlformats.org/officeDocument/2006/relationships/hyperlink" Target="https://nam02.safelinks.protection.outlook.com/?url=https%3A%2F%2Fdatos.gob.cl%2F&amp;data=05%7C02%7Comar.salinas%40unab.cl%7Cf6a50a3be9354908f30a08de2c229269%7C8fbed393d03b49f8be79cd5e1f590fb2%7C0%7C0%7C638996724172530444%7CUnknown%7CTWFpbGZsb3d8eyJFbXB0eU1hcGkiOnRydWUsIlYiOiIwLjAuMDAwMCIsIlAiOiJXaW4zMiIsIkFOIjoiTWFpbCIsIldUIjoyfQ%3D%3D%7C0%7C%7C%7C&amp;sdata=GjLStBLgwKex44nQNPRc7LAT8Y3CoTI58zUCpBFVXw4%3D&amp;reserved=0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1121F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868680"/>
            <a:ext cx="841248" cy="8412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691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  ·  MCDI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320040" y="2278235"/>
            <a:ext cx="116974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</a:rPr>
              <a:t>TAREAS PRÁCTICAS  DE LA FASES 1 y 2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41248" y="3337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AEBD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Fuentes de datos, variables categóricas, limpieza, </a:t>
            </a:r>
            <a:r>
              <a:rPr lang="en-US" sz="2000" dirty="0" err="1">
                <a:solidFill>
                  <a:srgbClr val="AEBD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datos</a:t>
            </a:r>
            <a:r>
              <a:rPr lang="en-US" sz="2000" dirty="0">
                <a:solidFill>
                  <a:srgbClr val="AEBD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000" dirty="0" err="1">
                <a:solidFill>
                  <a:srgbClr val="AEBD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perdidos</a:t>
            </a:r>
            <a:r>
              <a:rPr lang="en-US" sz="2000" dirty="0">
                <a:solidFill>
                  <a:srgbClr val="AEBD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r>
              <a:rPr lang="en-US" sz="2000" dirty="0" err="1">
                <a:solidFill>
                  <a:srgbClr val="AEBD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escalamiento</a:t>
            </a:r>
            <a:r>
              <a:rPr lang="en-US" sz="2000" dirty="0">
                <a:solidFill>
                  <a:srgbClr val="AEBD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 encoding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868680" y="4617720"/>
            <a:ext cx="2743200" cy="0"/>
          </a:xfrm>
          <a:prstGeom prst="line">
            <a:avLst/>
          </a:prstGeom>
          <a:noFill/>
          <a:ln w="3175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868680" y="5760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Dr. Omar Salinas Silva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omar.salinas@unab.cl</a:t>
            </a:r>
            <a:r>
              <a:rPr lang="en-US" sz="1250" dirty="0">
                <a:solidFill>
                  <a:srgbClr val="AEB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Magíster en Ciencia de Datos e Inteligencia Artificial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713232" cy="713232"/>
          </a:xfrm>
          <a:prstGeom prst="ellipse">
            <a:avLst/>
          </a:prstGeom>
          <a:solidFill>
            <a:srgbClr val="13294B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62179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28216" y="685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CRISP-DM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40080" y="1417320"/>
            <a:ext cx="10927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organiza un proyecto de datos en seis fases iterativas. El preprocesamiento corresponde a la Preparación de los datos.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66928" y="2423160"/>
            <a:ext cx="1664208" cy="1691640"/>
          </a:xfrm>
          <a:prstGeom prst="roundRect">
            <a:avLst>
              <a:gd name="adj" fmla="val 5495"/>
            </a:avLst>
          </a:prstGeom>
          <a:solidFill>
            <a:srgbClr val="13294B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704088" y="25511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94944" y="2926080"/>
            <a:ext cx="14081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Comprensión del negocio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2194560" y="2423160"/>
            <a:ext cx="320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478024" y="2423160"/>
            <a:ext cx="1664208" cy="1691640"/>
          </a:xfrm>
          <a:prstGeom prst="roundRect">
            <a:avLst>
              <a:gd name="adj" fmla="val 5495"/>
            </a:avLst>
          </a:prstGeom>
          <a:solidFill>
            <a:srgbClr val="13294B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2615184" y="25511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606040" y="2926080"/>
            <a:ext cx="14081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Comprensión de los datos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105656" y="2423160"/>
            <a:ext cx="320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4389120" y="2423160"/>
            <a:ext cx="1664208" cy="1691640"/>
          </a:xfrm>
          <a:prstGeom prst="roundRect">
            <a:avLst>
              <a:gd name="adj" fmla="val 5495"/>
            </a:avLst>
          </a:prstGeom>
          <a:solidFill>
            <a:srgbClr val="C1121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6" name="Text 13"/>
          <p:cNvSpPr/>
          <p:nvPr/>
        </p:nvSpPr>
        <p:spPr>
          <a:xfrm>
            <a:off x="4526280" y="25511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517136" y="2926080"/>
            <a:ext cx="14081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Preparación de los datos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016752" y="2423160"/>
            <a:ext cx="320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6300216" y="2423160"/>
            <a:ext cx="1664208" cy="1691640"/>
          </a:xfrm>
          <a:prstGeom prst="roundRect">
            <a:avLst>
              <a:gd name="adj" fmla="val 5495"/>
            </a:avLst>
          </a:prstGeom>
          <a:solidFill>
            <a:srgbClr val="13294B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0" name="Text 17"/>
          <p:cNvSpPr/>
          <p:nvPr/>
        </p:nvSpPr>
        <p:spPr>
          <a:xfrm>
            <a:off x="6437376" y="25511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428232" y="2926080"/>
            <a:ext cx="14081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Modelado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7927848" y="2423160"/>
            <a:ext cx="320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8211312" y="2423160"/>
            <a:ext cx="1664208" cy="1691640"/>
          </a:xfrm>
          <a:prstGeom prst="roundRect">
            <a:avLst>
              <a:gd name="adj" fmla="val 5495"/>
            </a:avLst>
          </a:prstGeom>
          <a:solidFill>
            <a:srgbClr val="13294B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4" name="Text 21"/>
          <p:cNvSpPr/>
          <p:nvPr/>
        </p:nvSpPr>
        <p:spPr>
          <a:xfrm>
            <a:off x="8348472" y="25511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8339328" y="2926080"/>
            <a:ext cx="14081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Evaluación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9838944" y="2423160"/>
            <a:ext cx="320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10122408" y="2423160"/>
            <a:ext cx="1664208" cy="1691640"/>
          </a:xfrm>
          <a:prstGeom prst="roundRect">
            <a:avLst>
              <a:gd name="adj" fmla="val 5495"/>
            </a:avLst>
          </a:prstGeom>
          <a:solidFill>
            <a:srgbClr val="13294B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8" name="Text 25"/>
          <p:cNvSpPr/>
          <p:nvPr/>
        </p:nvSpPr>
        <p:spPr>
          <a:xfrm>
            <a:off x="10259568" y="25511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10250424" y="2926080"/>
            <a:ext cx="14081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Despliegue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389120" y="4251960"/>
            <a:ext cx="1664208" cy="457200"/>
          </a:xfrm>
          <a:prstGeom prst="roundRect">
            <a:avLst>
              <a:gd name="adj" fmla="val 12000"/>
            </a:avLst>
          </a:prstGeom>
          <a:solidFill>
            <a:srgbClr val="FBEBEC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8"/>
          <p:cNvSpPr/>
          <p:nvPr/>
        </p:nvSpPr>
        <p:spPr>
          <a:xfrm>
            <a:off x="4389120" y="425196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11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Preprocesamiento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640080" y="502920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Es un </a:t>
            </a:r>
            <a:r>
              <a:rPr lang="en-US" sz="1350" i="1" dirty="0" err="1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</a:t>
            </a:r>
            <a:r>
              <a:rPr lang="en-US" sz="1350" i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i="1" dirty="0" err="1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cíclico</a:t>
            </a:r>
            <a:r>
              <a:rPr lang="en-US" sz="1350" i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350" i="1" dirty="0" err="1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iterativo</a:t>
            </a:r>
            <a:r>
              <a:rPr lang="en-US" sz="1350" i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los hallazgos suelen hacer volver a fases anteriores.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640080" y="61722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proglobalbusinesssolutions.com — Six steps in CRISP-DM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713232" cy="713232"/>
          </a:xfrm>
          <a:prstGeom prst="ellipse">
            <a:avLst/>
          </a:prstGeom>
          <a:solidFill>
            <a:srgbClr val="13294B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62179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56235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kern="0" spc="20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REPOSITORIOS DE DATASETS</a:t>
            </a:r>
            <a:r>
              <a:rPr lang="en-US" sz="2800" kern="0" spc="200" dirty="0"/>
              <a:t> </a:t>
            </a:r>
            <a:r>
              <a:rPr lang="en-US" sz="28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(1/2)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508760"/>
            <a:ext cx="5458968" cy="2240280"/>
          </a:xfrm>
          <a:prstGeom prst="roundRect">
            <a:avLst>
              <a:gd name="adj" fmla="val 2857"/>
            </a:avLst>
          </a:prstGeom>
          <a:solidFill>
            <a:srgbClr val="F2F5F9"/>
          </a:solidFill>
          <a:ln w="12700">
            <a:solidFill>
              <a:srgbClr val="D6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Shape 4"/>
          <p:cNvSpPr/>
          <p:nvPr/>
        </p:nvSpPr>
        <p:spPr>
          <a:xfrm>
            <a:off x="914400" y="1783080"/>
            <a:ext cx="566928" cy="566928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" y="1911096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1764792"/>
            <a:ext cx="4315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Kaggle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932688" y="2423160"/>
            <a:ext cx="4910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repositorio más popular y completo: datasets, competencias y notebooks compartidos.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932688" y="3099816"/>
            <a:ext cx="4910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Ideal: </a:t>
            </a: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empezar y explorar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932688" y="3474720"/>
            <a:ext cx="4910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sz="1100" b="1" dirty="0"/>
              <a:t>Enlace:</a:t>
            </a:r>
            <a:r>
              <a:rPr lang="es-CL" sz="1100" dirty="0"/>
              <a:t> </a:t>
            </a:r>
            <a:r>
              <a:rPr lang="es-CL" sz="1100" dirty="0">
                <a:hlinkClick r:id="rId5" tooltip="Dirección URL original: https://www.kaggle.com/datasets. Haga clic o pulse si confía en este vínculo."/>
              </a:rPr>
              <a:t>https://www.kaggle.com/datasets</a:t>
            </a:r>
            <a:endParaRPr lang="es-CL" sz="1100" dirty="0"/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291072" y="1508760"/>
            <a:ext cx="5458968" cy="2240280"/>
          </a:xfrm>
          <a:prstGeom prst="roundRect">
            <a:avLst>
              <a:gd name="adj" fmla="val 2857"/>
            </a:avLst>
          </a:prstGeom>
          <a:solidFill>
            <a:srgbClr val="F2F5F9"/>
          </a:solidFill>
          <a:ln w="12700">
            <a:solidFill>
              <a:srgbClr val="D6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4" name="Shape 10"/>
          <p:cNvSpPr/>
          <p:nvPr/>
        </p:nvSpPr>
        <p:spPr>
          <a:xfrm>
            <a:off x="6565392" y="1783080"/>
            <a:ext cx="566928" cy="566928"/>
          </a:xfrm>
          <a:prstGeom prst="ellipse">
            <a:avLst/>
          </a:prstGeom>
          <a:solidFill>
            <a:srgbClr val="C1121F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408" y="1911096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251192" y="1764792"/>
            <a:ext cx="4315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UCI ML Repository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6583680" y="2423160"/>
            <a:ext cx="4910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Clásico y académico; datasets bien documentados y limpios.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583680" y="3099816"/>
            <a:ext cx="4910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Ideal: </a:t>
            </a: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ML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565392" y="3474720"/>
            <a:ext cx="4910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sz="1100" b="1" dirty="0"/>
              <a:t>Enlace:</a:t>
            </a:r>
            <a:r>
              <a:rPr lang="es-CL" sz="1100" dirty="0"/>
              <a:t> </a:t>
            </a:r>
            <a:r>
              <a:rPr lang="es-CL" sz="1100" dirty="0">
                <a:hlinkClick r:id="rId7" tooltip="Dirección URL original: https://www.google.com/search?q=https://archive.ics.uci.edu/ml/datasets.php. Haga clic o pulse si confía en este vínculo."/>
              </a:rPr>
              <a:t>https://archive.ics.uci.edu/ml/datasets.php</a:t>
            </a:r>
            <a:endParaRPr lang="es-CL" sz="1100" dirty="0"/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40080" y="3931920"/>
            <a:ext cx="5458968" cy="2240280"/>
          </a:xfrm>
          <a:prstGeom prst="roundRect">
            <a:avLst>
              <a:gd name="adj" fmla="val 2857"/>
            </a:avLst>
          </a:prstGeom>
          <a:solidFill>
            <a:srgbClr val="F2F5F9"/>
          </a:solidFill>
          <a:ln w="12700">
            <a:solidFill>
              <a:srgbClr val="D6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1" name="Shape 16"/>
          <p:cNvSpPr/>
          <p:nvPr/>
        </p:nvSpPr>
        <p:spPr>
          <a:xfrm>
            <a:off x="914400" y="4206240"/>
            <a:ext cx="566928" cy="566928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" y="4334256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00200" y="4187952"/>
            <a:ext cx="4315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Dataset Search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932688" y="4846320"/>
            <a:ext cx="4910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Buscador que indexa datasets públicos de toda la web.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932688" y="5522976"/>
            <a:ext cx="4910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Ideal: </a:t>
            </a: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temas muy específicos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914400" y="5865273"/>
            <a:ext cx="4910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sz="1100" b="1" dirty="0"/>
              <a:t>Enlace:</a:t>
            </a:r>
            <a:r>
              <a:rPr lang="es-CL" sz="1100" dirty="0"/>
              <a:t> </a:t>
            </a:r>
            <a:r>
              <a:rPr lang="es-CL" sz="1100" dirty="0">
                <a:hlinkClick r:id="rId9" tooltip="Dirección URL original: https://datasetsearch.research.google.com/. Haga clic o pulse si confía en este vínculo."/>
              </a:rPr>
              <a:t>https://datasetsearch.research.google.com/</a:t>
            </a:r>
            <a:endParaRPr lang="es-CL" sz="1100" dirty="0"/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6291072" y="3931920"/>
            <a:ext cx="5458968" cy="2240280"/>
          </a:xfrm>
          <a:prstGeom prst="roundRect">
            <a:avLst>
              <a:gd name="adj" fmla="val 2857"/>
            </a:avLst>
          </a:prstGeom>
          <a:solidFill>
            <a:srgbClr val="F2F5F9"/>
          </a:solidFill>
          <a:ln w="12700">
            <a:solidFill>
              <a:srgbClr val="D6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8" name="Shape 22"/>
          <p:cNvSpPr/>
          <p:nvPr/>
        </p:nvSpPr>
        <p:spPr>
          <a:xfrm>
            <a:off x="6565392" y="4206240"/>
            <a:ext cx="566928" cy="566928"/>
          </a:xfrm>
          <a:prstGeom prst="ellipse">
            <a:avLst/>
          </a:prstGeom>
          <a:solidFill>
            <a:srgbClr val="C1121F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93408" y="4334256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251192" y="4187952"/>
            <a:ext cx="4315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AWS Open Data</a:t>
            </a:r>
            <a:endParaRPr lang="en-US" sz="1550" dirty="0"/>
          </a:p>
        </p:txBody>
      </p:sp>
      <p:sp>
        <p:nvSpPr>
          <p:cNvPr id="31" name="Text 24"/>
          <p:cNvSpPr/>
          <p:nvPr/>
        </p:nvSpPr>
        <p:spPr>
          <a:xfrm>
            <a:off x="6583680" y="4846320"/>
            <a:ext cx="4910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públicos en S3, de alta calidad y gran tamaño.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6583680" y="5522976"/>
            <a:ext cx="4910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Ideal: </a:t>
            </a: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grandes volúmenes, imágenes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6583680" y="5897880"/>
            <a:ext cx="4910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sz="1100" b="1" dirty="0"/>
              <a:t>Enlace:</a:t>
            </a:r>
            <a:r>
              <a:rPr lang="es-CL" sz="1100" dirty="0"/>
              <a:t> </a:t>
            </a:r>
            <a:r>
              <a:rPr lang="es-CL" sz="1100" dirty="0">
                <a:hlinkClick r:id="rId11" tooltip="Dirección URL original: https://registry.opendata.aws/. Haga clic o pulse si confía en este vínculo."/>
              </a:rPr>
              <a:t>https://registry.opendata.aws/</a:t>
            </a:r>
            <a:endParaRPr lang="es-CL" sz="1100" dirty="0"/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713232" cy="713232"/>
          </a:xfrm>
          <a:prstGeom prst="ellipse">
            <a:avLst/>
          </a:prstGeom>
          <a:solidFill>
            <a:srgbClr val="13294B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62179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REPOSITORIOS DE DATASETS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08760" y="67665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¿De dónde salen los datos?  (2/2)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40080" y="1508760"/>
            <a:ext cx="5458968" cy="2240280"/>
          </a:xfrm>
          <a:prstGeom prst="roundRect">
            <a:avLst>
              <a:gd name="adj" fmla="val 2857"/>
            </a:avLst>
          </a:prstGeom>
          <a:solidFill>
            <a:srgbClr val="F2F5F9"/>
          </a:solidFill>
          <a:ln w="12700">
            <a:solidFill>
              <a:srgbClr val="D6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Shape 4"/>
          <p:cNvSpPr/>
          <p:nvPr/>
        </p:nvSpPr>
        <p:spPr>
          <a:xfrm>
            <a:off x="914400" y="1783080"/>
            <a:ext cx="566928" cy="566928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" y="1911096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1764792"/>
            <a:ext cx="4315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World in Data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932688" y="2423160"/>
            <a:ext cx="4910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y visualizaciones curadas sobre temas globales (salud, pobreza, ambiente).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932688" y="3099816"/>
            <a:ext cx="4910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Ideal: </a:t>
            </a: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tendencias globales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914400" y="3447288"/>
            <a:ext cx="4910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sz="1100" b="1" dirty="0"/>
              <a:t>Enlace:</a:t>
            </a:r>
            <a:r>
              <a:rPr lang="es-CL" sz="1100" dirty="0"/>
              <a:t> </a:t>
            </a:r>
            <a:r>
              <a:rPr lang="es-CL" sz="1100" dirty="0">
                <a:hlinkClick r:id="rId5" tooltip="Dirección URL original: https://ourworldindata.org/. Haga clic o pulse si confía en este vínculo."/>
              </a:rPr>
              <a:t>https://ourworldindata.org/</a:t>
            </a:r>
            <a:endParaRPr lang="es-CL" sz="1100" dirty="0"/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291072" y="1508760"/>
            <a:ext cx="5458968" cy="2240280"/>
          </a:xfrm>
          <a:prstGeom prst="roundRect">
            <a:avLst>
              <a:gd name="adj" fmla="val 2857"/>
            </a:avLst>
          </a:prstGeom>
          <a:solidFill>
            <a:srgbClr val="F2F5F9"/>
          </a:solidFill>
          <a:ln w="12700">
            <a:solidFill>
              <a:srgbClr val="D6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4" name="Shape 10"/>
          <p:cNvSpPr/>
          <p:nvPr/>
        </p:nvSpPr>
        <p:spPr>
          <a:xfrm>
            <a:off x="6565392" y="1783080"/>
            <a:ext cx="566928" cy="566928"/>
          </a:xfrm>
          <a:prstGeom prst="ellipse">
            <a:avLst/>
          </a:prstGeom>
          <a:solidFill>
            <a:srgbClr val="C1121F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408" y="1911096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251192" y="1764792"/>
            <a:ext cx="4315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Humanitarian Data Exchange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6583680" y="2423160"/>
            <a:ext cx="4910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reales de crisis humanitarias (ONU); suelen requerir limpieza.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583680" y="3099816"/>
            <a:ext cx="4910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Ideal: </a:t>
            </a: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practicar preprocesamiento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565392" y="3374136"/>
            <a:ext cx="4910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sz="1100" dirty="0">
                <a:hlinkClick r:id="rId7" tooltip="Dirección URL original: https://data.humdata.org/. Haga clic o pulse si confía en este vínculo."/>
              </a:rPr>
              <a:t>https://data.humdata.org/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40080" y="3931920"/>
            <a:ext cx="5458968" cy="2240280"/>
          </a:xfrm>
          <a:prstGeom prst="roundRect">
            <a:avLst>
              <a:gd name="adj" fmla="val 2857"/>
            </a:avLst>
          </a:prstGeom>
          <a:solidFill>
            <a:srgbClr val="F2F5F9"/>
          </a:solidFill>
          <a:ln w="12700">
            <a:solidFill>
              <a:srgbClr val="D6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1" name="Shape 16"/>
          <p:cNvSpPr/>
          <p:nvPr/>
        </p:nvSpPr>
        <p:spPr>
          <a:xfrm>
            <a:off x="914400" y="4206240"/>
            <a:ext cx="566928" cy="566928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" y="4334256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00200" y="4187952"/>
            <a:ext cx="4315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Data.gov (USA)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932688" y="4846320"/>
            <a:ext cx="4910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 datos abiertos del gobierno de EE.UU. En Chile: datos.gob.cl.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932688" y="5522976"/>
            <a:ext cx="4910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Ideal: </a:t>
            </a: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públicas y demografía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932688" y="5788152"/>
            <a:ext cx="4910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sz="1100" dirty="0">
                <a:hlinkClick r:id="rId9" tooltip="Dirección URL original: https://datos.gob.cl/. Haga clic o pulse si confía en este vínculo."/>
              </a:rPr>
              <a:t>datos.gob.cl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6291072" y="3931920"/>
            <a:ext cx="5294376" cy="2240280"/>
          </a:xfrm>
          <a:prstGeom prst="roundRect">
            <a:avLst>
              <a:gd name="adj" fmla="val 2857"/>
            </a:avLst>
          </a:prstGeom>
          <a:solidFill>
            <a:srgbClr val="13294B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8" name="Text 22"/>
          <p:cNvSpPr/>
          <p:nvPr/>
        </p:nvSpPr>
        <p:spPr>
          <a:xfrm>
            <a:off x="6565392" y="4114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FF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Consideraciones</a:t>
            </a:r>
            <a:r>
              <a:rPr lang="en-US" sz="1500" b="1" dirty="0">
                <a:solidFill>
                  <a:srgbClr val="FF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del dataset del </a:t>
            </a:r>
            <a:r>
              <a:rPr lang="en-US" sz="1500" b="1" dirty="0" err="1">
                <a:solidFill>
                  <a:srgbClr val="FF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proyecto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6394704" y="459486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set </a:t>
            </a:r>
            <a:r>
              <a:rPr lang="en-US" sz="13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tener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variables </a:t>
            </a:r>
            <a:r>
              <a:rPr lang="en-US" sz="13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categóricas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3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numéricas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</a:t>
            </a:r>
            <a:r>
              <a:rPr lang="en-US" sz="13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Categóricas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3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nominales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3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ordinales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y Variables </a:t>
            </a:r>
            <a:r>
              <a:rPr lang="en-US" sz="13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Numéricas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3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discretas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3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continuas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</a:t>
            </a:r>
            <a:r>
              <a:rPr lang="en-US" sz="13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13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Proyecto: Iris, Titanic, Wine, Stroke, Housing, 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713232" cy="713232"/>
          </a:xfrm>
          <a:prstGeom prst="ellipse">
            <a:avLst/>
          </a:prstGeom>
          <a:solidFill>
            <a:srgbClr val="13294B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62179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DATOS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08760" y="67665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Variables categóricas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6766560" cy="4114800"/>
          </a:xfrm>
          <a:prstGeom prst="roundRect">
            <a:avLst>
              <a:gd name="adj" fmla="val 1778"/>
            </a:avLst>
          </a:prstGeom>
          <a:solidFill>
            <a:srgbClr val="F2F5F9"/>
          </a:solidFill>
          <a:ln w="12700">
            <a:solidFill>
              <a:srgbClr val="D6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Shape 5"/>
          <p:cNvSpPr/>
          <p:nvPr/>
        </p:nvSpPr>
        <p:spPr>
          <a:xfrm>
            <a:off x="7589520" y="1554480"/>
            <a:ext cx="3977640" cy="4114800"/>
          </a:xfrm>
          <a:prstGeom prst="roundRect">
            <a:avLst>
              <a:gd name="adj" fmla="val 1839"/>
            </a:avLst>
          </a:prstGeom>
          <a:solidFill>
            <a:srgbClr val="13294B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7863840" y="1783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 grandes tipos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863840" y="2468880"/>
            <a:ext cx="3474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Ordinales</a:t>
            </a:r>
            <a:endParaRPr lang="en-US" sz="1500" dirty="0"/>
          </a:p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AEB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tienen un orden natural (bajo &lt; medio &lt; alto).</a:t>
            </a:r>
            <a:endParaRPr lang="en-US" sz="1500" dirty="0"/>
          </a:p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endParaRPr lang="en-US" sz="1500" dirty="0"/>
          </a:p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Nominales</a:t>
            </a:r>
            <a:endParaRPr lang="en-US" sz="1500" dirty="0"/>
          </a:p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AEB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tienen orden (rojo, verde, azul).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61722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Sebastián Garrido de Sierra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13" name="Google Shape;202;p18">
            <a:extLst>
              <a:ext uri="{FF2B5EF4-FFF2-40B4-BE49-F238E27FC236}">
                <a16:creationId xmlns:a16="http://schemas.microsoft.com/office/drawing/2014/main" id="{55806D5F-9AF7-D55E-3162-7D8CEBE8645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4672" y="1783080"/>
            <a:ext cx="6430141" cy="38587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713232" cy="713232"/>
          </a:xfrm>
          <a:prstGeom prst="ellipse">
            <a:avLst/>
          </a:prstGeom>
          <a:solidFill>
            <a:srgbClr val="13294B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62179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CATEGÓRICAS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08760" y="67665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¿Ordinal o nominal?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40080" y="150876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2F5F9"/>
          </a:solidFill>
          <a:ln w="12700">
            <a:solidFill>
              <a:srgbClr val="D6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Text 4"/>
          <p:cNvSpPr/>
          <p:nvPr/>
        </p:nvSpPr>
        <p:spPr>
          <a:xfrm>
            <a:off x="91440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Ejemplos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214884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Numérico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Sexo (1 = Mujer, 2 = Hombre)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(1 = De acuerdo … 3 = En desacuerdo)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Formas de pago (Efectivo, Crédito)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 máquina (Bajo, Medio, Alto)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producto (Madera, Plástico, Metal)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17920" y="150876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2F5F9"/>
          </a:solidFill>
          <a:ln w="19050">
            <a:solidFill>
              <a:srgbClr val="1F8A5B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6492240" y="167335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8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Ordinales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492240" y="213055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 encuesta · Configuración de máquina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217920" y="2953512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2F5F9"/>
          </a:solidFill>
          <a:ln w="19050">
            <a:solidFill>
              <a:srgbClr val="13294B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Text 10"/>
          <p:cNvSpPr/>
          <p:nvPr/>
        </p:nvSpPr>
        <p:spPr>
          <a:xfrm>
            <a:off x="6492240" y="311810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ordinales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492240" y="357530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Sexo · Formas de pago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217920" y="4398264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2F5F9"/>
          </a:solidFill>
          <a:ln w="19050">
            <a:solidFill>
              <a:srgbClr val="C1121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6" name="Text 13"/>
          <p:cNvSpPr/>
          <p:nvPr/>
        </p:nvSpPr>
        <p:spPr>
          <a:xfrm>
            <a:off x="6492240" y="456285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11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Depende del contexto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492240" y="502005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producto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713232" cy="713232"/>
          </a:xfrm>
          <a:prstGeom prst="ellipse">
            <a:avLst/>
          </a:prstGeom>
          <a:solidFill>
            <a:srgbClr val="13294B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62179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DATOS CRUDOS A DATOS LISTOS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08760" y="67665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preprocesamiento: tres tareas clave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F2F5F9"/>
          </a:solidFill>
          <a:ln w="12700">
            <a:solidFill>
              <a:srgbClr val="D6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Shape 4"/>
          <p:cNvSpPr/>
          <p:nvPr/>
        </p:nvSpPr>
        <p:spPr>
          <a:xfrm>
            <a:off x="640080" y="1691640"/>
            <a:ext cx="3566160" cy="128016"/>
          </a:xfrm>
          <a:prstGeom prst="rect">
            <a:avLst/>
          </a:prstGeom>
          <a:solidFill>
            <a:srgbClr val="C1121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Shape 5"/>
          <p:cNvSpPr/>
          <p:nvPr/>
        </p:nvSpPr>
        <p:spPr>
          <a:xfrm>
            <a:off x="1965960" y="2194560"/>
            <a:ext cx="914400" cy="914400"/>
          </a:xfrm>
          <a:prstGeom prst="ellipse">
            <a:avLst/>
          </a:prstGeom>
          <a:solidFill>
            <a:srgbClr val="C1121F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0" y="24231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20116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11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914400" y="3383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Limpieza de datos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1005840" y="406908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y manejar datos faltantes, duplicados e inconsistencias.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4407408" y="169164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F2F5F9"/>
          </a:solidFill>
          <a:ln w="12700">
            <a:solidFill>
              <a:srgbClr val="D6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4" name="Shape 10"/>
          <p:cNvSpPr/>
          <p:nvPr/>
        </p:nvSpPr>
        <p:spPr>
          <a:xfrm>
            <a:off x="4407408" y="1691640"/>
            <a:ext cx="3566160" cy="128016"/>
          </a:xfrm>
          <a:prstGeom prst="rect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Shape 11"/>
          <p:cNvSpPr/>
          <p:nvPr/>
        </p:nvSpPr>
        <p:spPr>
          <a:xfrm>
            <a:off x="5733288" y="2194560"/>
            <a:ext cx="914400" cy="91440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1888" y="242316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81728" y="20116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4681728" y="3383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Escalamiento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4773168" y="406908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Llevar las variables numéricas a escalas comparables.</a:t>
            </a:r>
            <a:endParaRPr lang="en-US" sz="1450" dirty="0"/>
          </a:p>
        </p:txBody>
      </p:sp>
      <p:sp>
        <p:nvSpPr>
          <p:cNvPr id="20" name="Shape 15"/>
          <p:cNvSpPr/>
          <p:nvPr/>
        </p:nvSpPr>
        <p:spPr>
          <a:xfrm>
            <a:off x="8174736" y="169164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F2F5F9"/>
          </a:solidFill>
          <a:ln w="12700">
            <a:solidFill>
              <a:srgbClr val="D6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1" name="Shape 16"/>
          <p:cNvSpPr/>
          <p:nvPr/>
        </p:nvSpPr>
        <p:spPr>
          <a:xfrm>
            <a:off x="8174736" y="1691640"/>
            <a:ext cx="3566160" cy="128016"/>
          </a:xfrm>
          <a:prstGeom prst="rect">
            <a:avLst/>
          </a:prstGeom>
          <a:solidFill>
            <a:srgbClr val="C1121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Shape 17"/>
          <p:cNvSpPr/>
          <p:nvPr/>
        </p:nvSpPr>
        <p:spPr>
          <a:xfrm>
            <a:off x="9500616" y="2194560"/>
            <a:ext cx="914400" cy="914400"/>
          </a:xfrm>
          <a:prstGeom prst="ellipse">
            <a:avLst/>
          </a:prstGeom>
          <a:solidFill>
            <a:srgbClr val="C1121F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9216" y="2423160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449056" y="20116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11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19"/>
          <p:cNvSpPr/>
          <p:nvPr/>
        </p:nvSpPr>
        <p:spPr>
          <a:xfrm>
            <a:off x="8449056" y="3383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Encoding</a:t>
            </a:r>
            <a:endParaRPr lang="en-US" sz="1900" dirty="0"/>
          </a:p>
        </p:txBody>
      </p:sp>
      <p:sp>
        <p:nvSpPr>
          <p:cNvPr id="26" name="Text 20"/>
          <p:cNvSpPr/>
          <p:nvPr/>
        </p:nvSpPr>
        <p:spPr>
          <a:xfrm>
            <a:off x="8540496" y="406908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variables categóricas en numéricas.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713232" cy="713232"/>
          </a:xfrm>
          <a:prstGeom prst="ellipse">
            <a:avLst/>
          </a:prstGeom>
          <a:solidFill>
            <a:srgbClr val="13294B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621792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67665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Limpieza: datos faltantes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417320"/>
            <a:ext cx="10927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reales casi nunca están completos. Antes de analizar, hay que decidir qué hacer con los valores faltantes (NaN/NA).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40080" y="228600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2F5F9"/>
          </a:solidFill>
          <a:ln w="12700">
            <a:solidFill>
              <a:srgbClr val="D6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Shape 5"/>
          <p:cNvSpPr/>
          <p:nvPr/>
        </p:nvSpPr>
        <p:spPr>
          <a:xfrm>
            <a:off x="914400" y="2606040"/>
            <a:ext cx="640080" cy="64008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274320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2651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Detectar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932688" y="3474720"/>
            <a:ext cx="2980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dónde y cuántos faltan (por columna y por fila).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4407408" y="228600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2F5F9"/>
          </a:solidFill>
          <a:ln w="12700">
            <a:solidFill>
              <a:srgbClr val="D6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Shape 9"/>
          <p:cNvSpPr/>
          <p:nvPr/>
        </p:nvSpPr>
        <p:spPr>
          <a:xfrm>
            <a:off x="4681728" y="2606040"/>
            <a:ext cx="640080" cy="640080"/>
          </a:xfrm>
          <a:prstGeom prst="ellipse">
            <a:avLst/>
          </a:prstGeom>
          <a:solidFill>
            <a:srgbClr val="C1121F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274320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58968" y="2651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Eliminar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4700016" y="3474720"/>
            <a:ext cx="2980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Quitar filas o columnas con demasiados faltantes, con criterio.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8174736" y="228600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2F5F9"/>
          </a:solidFill>
          <a:ln w="12700">
            <a:solidFill>
              <a:srgbClr val="D6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8" name="Shape 13"/>
          <p:cNvSpPr/>
          <p:nvPr/>
        </p:nvSpPr>
        <p:spPr>
          <a:xfrm>
            <a:off x="8449056" y="2606040"/>
            <a:ext cx="640080" cy="64008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6216" y="274320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226296" y="2651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Imputar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8467344" y="3474720"/>
            <a:ext cx="2980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Rellenar con un valor representativo: media, mediana o moda.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713232" cy="713232"/>
          </a:xfrm>
          <a:prstGeom prst="ellipse">
            <a:avLst/>
          </a:prstGeom>
          <a:solidFill>
            <a:srgbClr val="13294B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621792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67665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Escalamiento de variables numéricas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417320"/>
            <a:ext cx="10927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las variables están en rangos muy distintos, conviene llevarlas a una escala comparable (Feature Scaling). Dos enfoques habituales: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40080" y="2286000"/>
            <a:ext cx="5458968" cy="3017520"/>
          </a:xfrm>
          <a:prstGeom prst="roundRect">
            <a:avLst>
              <a:gd name="adj" fmla="val 2424"/>
            </a:avLst>
          </a:prstGeom>
          <a:solidFill>
            <a:srgbClr val="F2F5F9"/>
          </a:solidFill>
          <a:ln w="12700">
            <a:solidFill>
              <a:srgbClr val="D6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Shape 5"/>
          <p:cNvSpPr/>
          <p:nvPr/>
        </p:nvSpPr>
        <p:spPr>
          <a:xfrm>
            <a:off x="640080" y="2286000"/>
            <a:ext cx="5458968" cy="128016"/>
          </a:xfrm>
          <a:prstGeom prst="rect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1005840" y="2651760"/>
            <a:ext cx="4727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Normalización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005840" y="3291840"/>
            <a:ext cx="4727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Reescala los valores al rango [0, 1].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996696" y="3954780"/>
            <a:ext cx="4727448" cy="594360"/>
          </a:xfrm>
          <a:prstGeom prst="roundRect">
            <a:avLst>
              <a:gd name="adj" fmla="val 9231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905357" y="3945636"/>
            <a:ext cx="4727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MinMaxScaler()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291072" y="2286000"/>
            <a:ext cx="5458968" cy="3017520"/>
          </a:xfrm>
          <a:prstGeom prst="roundRect">
            <a:avLst>
              <a:gd name="adj" fmla="val 2424"/>
            </a:avLst>
          </a:prstGeom>
          <a:solidFill>
            <a:srgbClr val="F2F5F9"/>
          </a:solidFill>
          <a:ln w="12700">
            <a:solidFill>
              <a:srgbClr val="D6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4" name="Shape 11"/>
          <p:cNvSpPr/>
          <p:nvPr/>
        </p:nvSpPr>
        <p:spPr>
          <a:xfrm>
            <a:off x="6291072" y="2286000"/>
            <a:ext cx="5458968" cy="128016"/>
          </a:xfrm>
          <a:prstGeom prst="rect">
            <a:avLst/>
          </a:prstGeom>
          <a:solidFill>
            <a:srgbClr val="C1121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12"/>
          <p:cNvSpPr/>
          <p:nvPr/>
        </p:nvSpPr>
        <p:spPr>
          <a:xfrm>
            <a:off x="6656832" y="2651760"/>
            <a:ext cx="4727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11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Estandarización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656832" y="3291840"/>
            <a:ext cx="4727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 en media 0 y desviación 1 (z-score).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641287" y="3918204"/>
            <a:ext cx="4727448" cy="594360"/>
          </a:xfrm>
          <a:prstGeom prst="roundRect">
            <a:avLst>
              <a:gd name="adj" fmla="val 9231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5"/>
          <p:cNvSpPr/>
          <p:nvPr/>
        </p:nvSpPr>
        <p:spPr>
          <a:xfrm>
            <a:off x="6641287" y="3719512"/>
            <a:ext cx="4727448" cy="1064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StandardScaler()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21" name="Google Shape;259;ge1fc8470c9_0_39">
            <a:extLst>
              <a:ext uri="{FF2B5EF4-FFF2-40B4-BE49-F238E27FC236}">
                <a16:creationId xmlns:a16="http://schemas.microsoft.com/office/drawing/2014/main" id="{EF3C647A-5335-98E8-13BF-9A2ED8BB43E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7261" y="4619073"/>
            <a:ext cx="4024003" cy="2238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713232" cy="713232"/>
          </a:xfrm>
          <a:prstGeom prst="ellipse">
            <a:avLst/>
          </a:prstGeom>
          <a:solidFill>
            <a:srgbClr val="13294B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62179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08760" y="67665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Encoding: ¿por qué transformar?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10927080" cy="1828800"/>
          </a:xfrm>
          <a:prstGeom prst="roundRect">
            <a:avLst>
              <a:gd name="adj" fmla="val 4000"/>
            </a:avLst>
          </a:prstGeom>
          <a:solidFill>
            <a:srgbClr val="F2F5F9"/>
          </a:solidFill>
          <a:ln w="12700">
            <a:solidFill>
              <a:srgbClr val="D6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Text 4"/>
          <p:cNvSpPr/>
          <p:nvPr/>
        </p:nvSpPr>
        <p:spPr>
          <a:xfrm>
            <a:off x="960120" y="1737360"/>
            <a:ext cx="10287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análisis exploratorio, las variables categóricas se pueden usar tal como están. </a:t>
            </a:r>
            <a:r>
              <a:rPr lang="en-US" sz="17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para estadística inferencial o Machine Learning, hay que convertirlas en números, 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manteniendo el sentido que tienen originalmente.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40080" y="3657600"/>
            <a:ext cx="5458968" cy="2103120"/>
          </a:xfrm>
          <a:prstGeom prst="roundRect">
            <a:avLst>
              <a:gd name="adj" fmla="val 3478"/>
            </a:avLst>
          </a:prstGeom>
          <a:solidFill>
            <a:srgbClr val="F2F5F9"/>
          </a:solidFill>
          <a:ln w="12700">
            <a:solidFill>
              <a:srgbClr val="D6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Shape 6"/>
          <p:cNvSpPr/>
          <p:nvPr/>
        </p:nvSpPr>
        <p:spPr>
          <a:xfrm>
            <a:off x="960120" y="4069080"/>
            <a:ext cx="731520" cy="73152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2519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74520" y="3634740"/>
            <a:ext cx="3995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Label Encoding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1837944" y="3909060"/>
            <a:ext cx="3950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variables ordinales: asigna un número que respeta el orden.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291072" y="3657600"/>
            <a:ext cx="5458968" cy="2103120"/>
          </a:xfrm>
          <a:prstGeom prst="roundRect">
            <a:avLst>
              <a:gd name="adj" fmla="val 3478"/>
            </a:avLst>
          </a:prstGeom>
          <a:solidFill>
            <a:srgbClr val="F2F5F9"/>
          </a:solidFill>
          <a:ln w="12700">
            <a:solidFill>
              <a:srgbClr val="D6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4" name="Shape 10"/>
          <p:cNvSpPr/>
          <p:nvPr/>
        </p:nvSpPr>
        <p:spPr>
          <a:xfrm>
            <a:off x="6611112" y="4069080"/>
            <a:ext cx="731520" cy="731520"/>
          </a:xfrm>
          <a:prstGeom prst="ellipse">
            <a:avLst/>
          </a:prstGeom>
          <a:solidFill>
            <a:srgbClr val="C1121F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3992" y="425196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571232" y="3634740"/>
            <a:ext cx="3995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11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Hot Encoding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7525512" y="3909060"/>
            <a:ext cx="3950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variables nominales: crea una columna binaria por categoría.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19" name="Google Shape;284;ge1fc8470c9_0_32">
            <a:extLst>
              <a:ext uri="{FF2B5EF4-FFF2-40B4-BE49-F238E27FC236}">
                <a16:creationId xmlns:a16="http://schemas.microsoft.com/office/drawing/2014/main" id="{30CEA9C5-4F19-0C7F-F3F6-DCC831D53101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86472" y="4596671"/>
            <a:ext cx="3660648" cy="21296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91;ge1fc8470c9_0_47">
            <a:extLst>
              <a:ext uri="{FF2B5EF4-FFF2-40B4-BE49-F238E27FC236}">
                <a16:creationId xmlns:a16="http://schemas.microsoft.com/office/drawing/2014/main" id="{37EAB341-0634-9C02-BC60-513BA6DABC48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75726" y="4677535"/>
            <a:ext cx="2837918" cy="20488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713232" cy="713232"/>
          </a:xfrm>
          <a:prstGeom prst="ellipse">
            <a:avLst/>
          </a:prstGeom>
          <a:solidFill>
            <a:srgbClr val="13294B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62179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ORDINALES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08760" y="67665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Label Encoding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simple que requiere que la variable sea ordinal. </a:t>
            </a: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ordenan los valores y se les asigna un número que respeta ese orden.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301752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Limitación: si la variable no tiene orden, los números inventarían una jerarquía que no existe.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554480"/>
          <a:ext cx="5074920" cy="3108960"/>
        </p:xfrm>
        <a:graphic>
          <a:graphicData uri="http://schemas.openxmlformats.org/drawingml/2006/table">
            <a:tbl>
              <a:tblPr/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Encuesta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Label Encoding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Muy de acuerdo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C112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3</a:t>
                      </a:r>
                      <a:endParaRPr lang="en-US" sz="17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acuerdo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C112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</a:t>
                      </a:r>
                      <a:endParaRPr lang="en-US" sz="17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desacuerdo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C112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</a:t>
                      </a:r>
                      <a:endParaRPr lang="en-US" sz="17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Muy en desacuerdo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C112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</a:t>
                      </a:r>
                      <a:endParaRPr lang="en-US" sz="17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713232" cy="713232"/>
          </a:xfrm>
          <a:prstGeom prst="ellipse">
            <a:avLst/>
          </a:prstGeom>
          <a:solidFill>
            <a:srgbClr val="13294B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62179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NOMINALES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08760" y="67665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Hot Encoding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trabajar variables nominales. </a:t>
            </a: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una columna binaria por cada categoría: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 indica presencia y 0 ausencia.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31089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generan tantas columnas nuevas como categorías tenga la variable (aquí, tipo de animal).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828800"/>
          <a:ext cx="5074920" cy="2514600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Cat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Dog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Zebra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13294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Cat</a:t>
                      </a:r>
                      <a:endParaRPr lang="en-US" sz="14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112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A6B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A6B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13294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Dog</a:t>
                      </a:r>
                      <a:endParaRPr lang="en-US" sz="14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A6B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112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A6B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13294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Zebra</a:t>
                      </a:r>
                      <a:endParaRPr lang="en-US" sz="14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A6B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A6B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112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713232" cy="713232"/>
          </a:xfrm>
          <a:prstGeom prst="ellipse">
            <a:avLst/>
          </a:prstGeom>
          <a:solidFill>
            <a:srgbClr val="13294B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62179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08760" y="67665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Python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417320"/>
            <a:ext cx="1092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Estas tareas de preprocesamiento están implementadas en scikit-learn, listas para usar: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40080" y="2148840"/>
            <a:ext cx="5458968" cy="3291840"/>
          </a:xfrm>
          <a:prstGeom prst="roundRect">
            <a:avLst>
              <a:gd name="adj" fmla="val 2222"/>
            </a:avLst>
          </a:prstGeom>
          <a:solidFill>
            <a:srgbClr val="F2F5F9"/>
          </a:solidFill>
          <a:ln w="12700">
            <a:solidFill>
              <a:srgbClr val="D6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1005840" y="2468880"/>
            <a:ext cx="4727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Escalamiento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1005840" y="3200400"/>
            <a:ext cx="4727448" cy="1920240"/>
          </a:xfrm>
          <a:prstGeom prst="roundRect">
            <a:avLst>
              <a:gd name="adj" fmla="val 2857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1188720" y="3355848"/>
            <a:ext cx="4361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sklearn.preprocessing</a:t>
            </a: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import MinMaxScaler</a:t>
            </a: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sklearn.preprocessing</a:t>
            </a: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import StandardScaler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91072" y="2148840"/>
            <a:ext cx="5458968" cy="3291840"/>
          </a:xfrm>
          <a:prstGeom prst="roundRect">
            <a:avLst>
              <a:gd name="adj" fmla="val 2222"/>
            </a:avLst>
          </a:prstGeom>
          <a:solidFill>
            <a:srgbClr val="F2F5F9"/>
          </a:solidFill>
          <a:ln w="12700">
            <a:solidFill>
              <a:srgbClr val="D6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6656832" y="2468880"/>
            <a:ext cx="4727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11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Encoding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6656832" y="3200400"/>
            <a:ext cx="4727448" cy="1920240"/>
          </a:xfrm>
          <a:prstGeom prst="roundRect">
            <a:avLst>
              <a:gd name="adj" fmla="val 2857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1"/>
          <p:cNvSpPr/>
          <p:nvPr/>
        </p:nvSpPr>
        <p:spPr>
          <a:xfrm>
            <a:off x="6839712" y="3355848"/>
            <a:ext cx="4361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sklearn.preprocessing</a:t>
            </a: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import LabelEncoder</a:t>
            </a: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sklearn.preprocessing</a:t>
            </a: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import OneHotEncoder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1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1121F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005840"/>
            <a:ext cx="777240" cy="777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920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RESUMEN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22960" y="22860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Datos crudos → datos listos para analizar.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868680" y="352044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650" dirty="0">
                <a:solidFill>
                  <a:srgbClr val="AEB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preprocesamiento es la fase de Preparación de los datos de CRISP-DM.</a:t>
            </a:r>
            <a:endParaRPr lang="en-US" sz="165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650" dirty="0">
                <a:solidFill>
                  <a:srgbClr val="AEB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Limpieza: detectar, eliminar o imputar valores faltantes.</a:t>
            </a:r>
            <a:endParaRPr lang="en-US" sz="165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650" dirty="0">
                <a:solidFill>
                  <a:srgbClr val="AEB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Escalamiento: normalizar o estandarizar variables numéricas.</a:t>
            </a:r>
            <a:endParaRPr lang="en-US" sz="165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650" dirty="0">
                <a:solidFill>
                  <a:srgbClr val="AEB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Encoding: Label (ordinales) y One Hot (nominales).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868680" y="5806440"/>
            <a:ext cx="2377440" cy="0"/>
          </a:xfrm>
          <a:prstGeom prst="line">
            <a:avLst/>
          </a:prstGeom>
          <a:noFill/>
          <a:ln w="3175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868680" y="5943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dato bien preparado es la base de todo buen análisis.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1030</Words>
  <Application>Microsoft Macintosh PowerPoint</Application>
  <PresentationFormat>Panorámica</PresentationFormat>
  <Paragraphs>200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3 - Preprocesamiento de datos</dc:title>
  <dc:subject>PptxGenJS Presentation</dc:subject>
  <dc:creator>PptxGenJS</dc:creator>
  <cp:lastModifiedBy>Omar Iván Salinas Silva</cp:lastModifiedBy>
  <cp:revision>2</cp:revision>
  <dcterms:created xsi:type="dcterms:W3CDTF">2026-06-01T18:43:52Z</dcterms:created>
  <dcterms:modified xsi:type="dcterms:W3CDTF">2026-06-01T19:54:55Z</dcterms:modified>
</cp:coreProperties>
</file>